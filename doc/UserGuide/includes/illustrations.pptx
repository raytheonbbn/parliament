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8" r:id="rId2"/>
    <p:sldId id="260" r:id="rId3"/>
    <p:sldId id="259" r:id="rId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BA9A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848"/>
    <p:restoredTop sz="96301" autoAdjust="0"/>
  </p:normalViewPr>
  <p:slideViewPr>
    <p:cSldViewPr>
      <p:cViewPr varScale="1">
        <p:scale>
          <a:sx n="123" d="100"/>
          <a:sy n="123" d="100"/>
        </p:scale>
        <p:origin x="2096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2392DE-DA90-C84F-9F23-E5C230D67501}" type="datetimeFigureOut">
              <a:rPr lang="en-US" smtClean="0"/>
              <a:pPr/>
              <a:t>6/16/26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73676FD-FF78-724C-BAE7-DDEBFEA8523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86219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92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479235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86421" y="4344025"/>
            <a:ext cx="5485158" cy="4114488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9234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479235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86421" y="4344025"/>
            <a:ext cx="5485158" cy="4114488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>
            <a:prstTxWarp prst="textNoShape">
              <a:avLst/>
            </a:prstTxWarp>
          </a:bodyPr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C8AE9E36-BBF4-C64D-8FE6-E1AC4E023F66}" type="slidenum">
              <a:rPr lang="en-US"/>
              <a:pPr/>
              <a:t>3</a:t>
            </a:fld>
            <a:endParaRPr lang="en-US"/>
          </a:p>
        </p:txBody>
      </p:sp>
      <p:sp>
        <p:nvSpPr>
          <p:cNvPr id="33485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485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000" dirty="0"/>
              <a:t>A Parliament database consists of four files:</a:t>
            </a:r>
          </a:p>
          <a:p>
            <a:pPr>
              <a:buFontTx/>
              <a:buChar char="•"/>
            </a:pPr>
            <a:r>
              <a:rPr lang="en-US" sz="1000" dirty="0" err="1"/>
              <a:t>resources.mem</a:t>
            </a:r>
            <a:r>
              <a:rPr lang="en-US" sz="1000" dirty="0"/>
              <a:t>:</a:t>
            </a:r>
          </a:p>
          <a:p>
            <a:pPr lvl="1">
              <a:buFontTx/>
              <a:buChar char="•"/>
            </a:pPr>
            <a:r>
              <a:rPr lang="en-US" sz="1000" dirty="0"/>
              <a:t>Memory-mapped file of fixed-length records</a:t>
            </a:r>
          </a:p>
          <a:p>
            <a:pPr lvl="1">
              <a:buFontTx/>
              <a:buChar char="•"/>
            </a:pPr>
            <a:r>
              <a:rPr lang="en-US" sz="1000" dirty="0"/>
              <a:t>Establishes resource ids</a:t>
            </a:r>
          </a:p>
          <a:p>
            <a:pPr lvl="1">
              <a:buFontTx/>
              <a:buChar char="•"/>
            </a:pPr>
            <a:r>
              <a:rPr lang="en-US" sz="1000" dirty="0"/>
              <a:t>Points to statements where resource is first used</a:t>
            </a:r>
          </a:p>
          <a:p>
            <a:pPr>
              <a:buFontTx/>
              <a:buChar char="•"/>
            </a:pPr>
            <a:r>
              <a:rPr lang="en-US" sz="1000" dirty="0" err="1"/>
              <a:t>uris.mem</a:t>
            </a:r>
            <a:r>
              <a:rPr lang="en-US" sz="1000" dirty="0"/>
              <a:t>:</a:t>
            </a:r>
          </a:p>
          <a:p>
            <a:pPr lvl="1">
              <a:buFontTx/>
              <a:buChar char="•"/>
            </a:pPr>
            <a:r>
              <a:rPr lang="en-US" sz="1000" dirty="0"/>
              <a:t>Memory-mapped file of variable-length strings</a:t>
            </a:r>
          </a:p>
          <a:p>
            <a:pPr lvl="1">
              <a:buFontTx/>
              <a:buChar char="•"/>
            </a:pPr>
            <a:r>
              <a:rPr lang="en-US" sz="1000" dirty="0"/>
              <a:t>Stores the actual text of each URI</a:t>
            </a:r>
          </a:p>
          <a:p>
            <a:pPr>
              <a:buFontTx/>
              <a:buChar char="•"/>
            </a:pPr>
            <a:r>
              <a:rPr lang="en-US" sz="1000" dirty="0"/>
              <a:t>u2i.db:</a:t>
            </a:r>
          </a:p>
          <a:p>
            <a:pPr lvl="1">
              <a:buFontTx/>
              <a:buChar char="•"/>
            </a:pPr>
            <a:r>
              <a:rPr lang="en-US" sz="1000" dirty="0"/>
              <a:t>A Berkeley DB table</a:t>
            </a:r>
          </a:p>
          <a:p>
            <a:pPr lvl="1">
              <a:buFontTx/>
              <a:buChar char="•"/>
            </a:pPr>
            <a:r>
              <a:rPr lang="en-US" sz="1000" dirty="0"/>
              <a:t>Maps </a:t>
            </a:r>
            <a:r>
              <a:rPr lang="en-US" sz="1000" dirty="0" err="1"/>
              <a:t>URIs</a:t>
            </a:r>
            <a:r>
              <a:rPr lang="en-US" sz="1000" dirty="0"/>
              <a:t> to the corresponding resource ids</a:t>
            </a:r>
          </a:p>
          <a:p>
            <a:pPr>
              <a:buFontTx/>
              <a:buChar char="•"/>
            </a:pPr>
            <a:r>
              <a:rPr lang="en-US" sz="1000" dirty="0" err="1"/>
              <a:t>statements.mem</a:t>
            </a:r>
            <a:r>
              <a:rPr lang="en-US" sz="1000" dirty="0"/>
              <a:t>:</a:t>
            </a:r>
          </a:p>
          <a:p>
            <a:pPr lvl="1">
              <a:buFontTx/>
              <a:buChar char="•"/>
            </a:pPr>
            <a:r>
              <a:rPr lang="en-US" sz="1000" dirty="0"/>
              <a:t>Memory-mapped file of fixed-length records</a:t>
            </a:r>
          </a:p>
          <a:p>
            <a:pPr lvl="1">
              <a:buFontTx/>
              <a:buChar char="•"/>
            </a:pPr>
            <a:r>
              <a:rPr lang="en-US" sz="1000" dirty="0"/>
              <a:t>Stores resource ids of the four </a:t>
            </a:r>
            <a:r>
              <a:rPr lang="en-US" sz="1000" dirty="0" err="1"/>
              <a:t>URIs</a:t>
            </a:r>
            <a:r>
              <a:rPr lang="en-US" sz="1000" dirty="0"/>
              <a:t> in each quad</a:t>
            </a:r>
          </a:p>
          <a:p>
            <a:pPr lvl="1">
              <a:buFontTx/>
              <a:buChar char="•"/>
            </a:pPr>
            <a:r>
              <a:rPr lang="en-US" sz="1000" dirty="0"/>
              <a:t>Also stores pointers to the next quad using each URI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BFD309-D479-A847-B915-D65BB723EE4C}" type="datetimeFigureOut">
              <a:rPr lang="en-US" smtClean="0"/>
              <a:pPr/>
              <a:t>6/16/26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59CD3-E584-4F45-AC22-91009F521C7C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BFD309-D479-A847-B915-D65BB723EE4C}" type="datetimeFigureOut">
              <a:rPr lang="en-US" smtClean="0"/>
              <a:pPr/>
              <a:t>6/16/26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59CD3-E584-4F45-AC22-91009F521C7C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BFD309-D479-A847-B915-D65BB723EE4C}" type="datetimeFigureOut">
              <a:rPr lang="en-US" smtClean="0"/>
              <a:pPr/>
              <a:t>6/16/26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59CD3-E584-4F45-AC22-91009F521C7C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BFD309-D479-A847-B915-D65BB723EE4C}" type="datetimeFigureOut">
              <a:rPr lang="en-US" smtClean="0"/>
              <a:pPr/>
              <a:t>6/16/26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59CD3-E584-4F45-AC22-91009F521C7C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BFD309-D479-A847-B915-D65BB723EE4C}" type="datetimeFigureOut">
              <a:rPr lang="en-US" smtClean="0"/>
              <a:pPr/>
              <a:t>6/16/26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59CD3-E584-4F45-AC22-91009F521C7C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BFD309-D479-A847-B915-D65BB723EE4C}" type="datetimeFigureOut">
              <a:rPr lang="en-US" smtClean="0"/>
              <a:pPr/>
              <a:t>6/16/26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59CD3-E584-4F45-AC22-91009F521C7C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BFD309-D479-A847-B915-D65BB723EE4C}" type="datetimeFigureOut">
              <a:rPr lang="en-US" smtClean="0"/>
              <a:pPr/>
              <a:t>6/16/26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59CD3-E584-4F45-AC22-91009F521C7C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BFD309-D479-A847-B915-D65BB723EE4C}" type="datetimeFigureOut">
              <a:rPr lang="en-US" smtClean="0"/>
              <a:pPr/>
              <a:t>6/16/26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59CD3-E584-4F45-AC22-91009F521C7C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BFD309-D479-A847-B915-D65BB723EE4C}" type="datetimeFigureOut">
              <a:rPr lang="en-US" smtClean="0"/>
              <a:pPr/>
              <a:t>6/16/26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59CD3-E584-4F45-AC22-91009F521C7C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BFD309-D479-A847-B915-D65BB723EE4C}" type="datetimeFigureOut">
              <a:rPr lang="en-US" smtClean="0"/>
              <a:pPr/>
              <a:t>6/16/26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59CD3-E584-4F45-AC22-91009F521C7C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BFD309-D479-A847-B915-D65BB723EE4C}" type="datetimeFigureOut">
              <a:rPr lang="en-US" smtClean="0"/>
              <a:pPr/>
              <a:t>6/16/26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259CD3-E584-4F45-AC22-91009F521C7C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>
  <p:cSld name="Title and Content ov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17700" y="196850"/>
            <a:ext cx="5862638" cy="48895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1143000"/>
            <a:ext cx="7772400" cy="25892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884613"/>
            <a:ext cx="7772400" cy="25892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8BFD309-D479-A847-B915-D65BB723EE4C}" type="datetimeFigureOut">
              <a:rPr lang="en-US" smtClean="0"/>
              <a:pPr/>
              <a:t>6/16/26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259CD3-E584-4F45-AC22-91009F521C7C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140" name="Rectangle 4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Parliament™ Layers (1)</a:t>
            </a:r>
          </a:p>
        </p:txBody>
      </p:sp>
      <p:sp>
        <p:nvSpPr>
          <p:cNvPr id="475146" name="Rectangle 10" descr="Wide upward diagonal"/>
          <p:cNvSpPr>
            <a:spLocks noChangeArrowheads="1"/>
          </p:cNvSpPr>
          <p:nvPr/>
        </p:nvSpPr>
        <p:spPr bwMode="auto">
          <a:xfrm>
            <a:off x="2505868" y="4152900"/>
            <a:ext cx="4648200" cy="381000"/>
          </a:xfrm>
          <a:prstGeom prst="rect">
            <a:avLst/>
          </a:prstGeom>
          <a:gradFill flip="none" rotWithShape="1">
            <a:gsLst>
              <a:gs pos="50000">
                <a:schemeClr val="bg1"/>
              </a:gs>
              <a:gs pos="100000">
                <a:schemeClr val="accent1"/>
              </a:gs>
            </a:gsLst>
            <a:path path="rect">
              <a:fillToRect l="100000" t="100000"/>
            </a:path>
            <a:tileRect r="-100000" b="-100000"/>
          </a:gra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vert="horz" wrap="square" anchor="t" anchorCtr="0">
            <a:prstTxWarp prst="textNoShape">
              <a:avLst/>
            </a:prstTxWarp>
          </a:bodyPr>
          <a:lstStyle/>
          <a:p>
            <a:pPr algn="ctr" eaLnBrk="1" hangingPunct="1">
              <a:lnSpc>
                <a:spcPct val="100000"/>
              </a:lnSpc>
            </a:pPr>
            <a:r>
              <a:rPr lang="en-US" sz="1800" b="0">
                <a:solidFill>
                  <a:schemeClr val="tx1"/>
                </a:solidFill>
              </a:rPr>
              <a:t>Java Native Interface</a:t>
            </a:r>
          </a:p>
          <a:p>
            <a:pPr algn="ctr" eaLnBrk="1" hangingPunct="1">
              <a:lnSpc>
                <a:spcPct val="100000"/>
              </a:lnSpc>
            </a:pPr>
            <a:endParaRPr lang="en-US" sz="1800" b="0">
              <a:solidFill>
                <a:schemeClr val="tx1"/>
              </a:solidFill>
            </a:endParaRPr>
          </a:p>
        </p:txBody>
      </p:sp>
      <p:sp>
        <p:nvSpPr>
          <p:cNvPr id="475149" name="Rectangle 13" descr="Wide upward diagonal"/>
          <p:cNvSpPr>
            <a:spLocks noChangeArrowheads="1"/>
          </p:cNvSpPr>
          <p:nvPr/>
        </p:nvSpPr>
        <p:spPr bwMode="auto">
          <a:xfrm>
            <a:off x="2505868" y="4533900"/>
            <a:ext cx="4648200" cy="1371600"/>
          </a:xfrm>
          <a:prstGeom prst="rect">
            <a:avLst/>
          </a:prstGeom>
          <a:gradFill flip="none" rotWithShape="1">
            <a:gsLst>
              <a:gs pos="50000">
                <a:schemeClr val="bg1"/>
              </a:gs>
              <a:gs pos="100000">
                <a:schemeClr val="accent1"/>
              </a:gs>
            </a:gsLst>
            <a:path path="rect">
              <a:fillToRect l="100000" t="100000"/>
            </a:path>
            <a:tileRect r="-100000" b="-100000"/>
          </a:gra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vert="horz" wrap="square" anchor="t" anchorCtr="0">
            <a:prstTxWarp prst="textNoShape">
              <a:avLst/>
            </a:prstTxWarp>
          </a:bodyPr>
          <a:lstStyle/>
          <a:p>
            <a:pPr algn="ctr"/>
            <a:endParaRPr lang="en-US" b="0" dirty="0">
              <a:solidFill>
                <a:schemeClr val="tx1"/>
              </a:solidFill>
            </a:endParaRPr>
          </a:p>
          <a:p>
            <a:pPr algn="ctr"/>
            <a:r>
              <a:rPr lang="en-US" b="0" dirty="0">
                <a:solidFill>
                  <a:schemeClr val="tx1"/>
                </a:solidFill>
              </a:rPr>
              <a:t>Parliament</a:t>
            </a:r>
            <a:endParaRPr lang="en-US" sz="1800" b="0" dirty="0">
              <a:solidFill>
                <a:schemeClr val="tx1"/>
              </a:solidFill>
            </a:endParaRPr>
          </a:p>
        </p:txBody>
      </p:sp>
      <p:sp>
        <p:nvSpPr>
          <p:cNvPr id="475151" name="Rectangle 15"/>
          <p:cNvSpPr>
            <a:spLocks noChangeArrowheads="1"/>
          </p:cNvSpPr>
          <p:nvPr/>
        </p:nvSpPr>
        <p:spPr bwMode="auto">
          <a:xfrm>
            <a:off x="2505868" y="1943100"/>
            <a:ext cx="2142332" cy="381000"/>
          </a:xfrm>
          <a:prstGeom prst="rect">
            <a:avLst/>
          </a:prstGeom>
          <a:solidFill>
            <a:schemeClr val="bg1">
              <a:lumMod val="7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vert="horz" wrap="square" lIns="91440" anchor="ctr" anchorCtr="0">
            <a:prstTxWarp prst="textNoShape">
              <a:avLst/>
            </a:prstTxWarp>
          </a:bodyPr>
          <a:lstStyle/>
          <a:p>
            <a:pPr algn="ctr" eaLnBrk="1" hangingPunct="1">
              <a:lnSpc>
                <a:spcPct val="100000"/>
              </a:lnSpc>
            </a:pPr>
            <a:r>
              <a:rPr lang="en-US" sz="1600" b="0" dirty="0">
                <a:solidFill>
                  <a:schemeClr val="tx1"/>
                </a:solidFill>
              </a:rPr>
              <a:t>Jetty + </a:t>
            </a:r>
            <a:r>
              <a:rPr lang="en-US" sz="1600" b="0" dirty="0" err="1">
                <a:solidFill>
                  <a:schemeClr val="tx1"/>
                </a:solidFill>
              </a:rPr>
              <a:t>Joseki</a:t>
            </a:r>
            <a:endParaRPr lang="en-US" sz="1600" b="0" dirty="0">
              <a:solidFill>
                <a:schemeClr val="tx1"/>
              </a:solidFill>
            </a:endParaRPr>
          </a:p>
        </p:txBody>
      </p:sp>
      <p:sp>
        <p:nvSpPr>
          <p:cNvPr id="475152" name="Rectangle 16"/>
          <p:cNvSpPr>
            <a:spLocks noChangeArrowheads="1"/>
          </p:cNvSpPr>
          <p:nvPr/>
        </p:nvSpPr>
        <p:spPr bwMode="auto">
          <a:xfrm>
            <a:off x="2505868" y="2705100"/>
            <a:ext cx="2142332" cy="685800"/>
          </a:xfrm>
          <a:prstGeom prst="rect">
            <a:avLst/>
          </a:prstGeom>
          <a:solidFill>
            <a:schemeClr val="bg1">
              <a:lumMod val="7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vert="horz" wrap="square" lIns="91440" anchor="ctr" anchorCtr="0">
            <a:prstTxWarp prst="textNoShape">
              <a:avLst/>
            </a:prstTxWarp>
          </a:bodyPr>
          <a:lstStyle/>
          <a:p>
            <a:pPr algn="ctr" eaLnBrk="1" hangingPunct="1">
              <a:lnSpc>
                <a:spcPct val="100000"/>
              </a:lnSpc>
            </a:pPr>
            <a:r>
              <a:rPr lang="en-US" sz="1600" b="0" dirty="0">
                <a:solidFill>
                  <a:schemeClr val="tx1"/>
                </a:solidFill>
              </a:rPr>
              <a:t>Jena</a:t>
            </a:r>
          </a:p>
        </p:txBody>
      </p:sp>
      <p:sp>
        <p:nvSpPr>
          <p:cNvPr id="475153" name="Rectangle 17" descr="Wide upward diagonal"/>
          <p:cNvSpPr>
            <a:spLocks noChangeArrowheads="1"/>
          </p:cNvSpPr>
          <p:nvPr/>
        </p:nvSpPr>
        <p:spPr bwMode="auto">
          <a:xfrm>
            <a:off x="2505868" y="3771900"/>
            <a:ext cx="2142332" cy="381000"/>
          </a:xfrm>
          <a:prstGeom prst="rect">
            <a:avLst/>
          </a:prstGeom>
          <a:gradFill flip="none" rotWithShape="1">
            <a:gsLst>
              <a:gs pos="50000">
                <a:schemeClr val="bg1"/>
              </a:gs>
              <a:gs pos="100000">
                <a:schemeClr val="accent1"/>
              </a:gs>
            </a:gsLst>
            <a:path path="rect">
              <a:fillToRect l="100000" t="100000"/>
            </a:path>
            <a:tileRect r="-100000" b="-100000"/>
          </a:gra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vert="horz" wrap="square" anchor="t" anchorCtr="0">
            <a:prstTxWarp prst="textNoShape">
              <a:avLst/>
            </a:prstTxWarp>
          </a:bodyPr>
          <a:lstStyle/>
          <a:p>
            <a:pPr algn="ctr"/>
            <a:r>
              <a:rPr lang="en-US" sz="1400" b="0" dirty="0">
                <a:solidFill>
                  <a:schemeClr val="tx1"/>
                </a:solidFill>
              </a:rPr>
              <a:t>Jena </a:t>
            </a:r>
            <a:r>
              <a:rPr lang="en-US" sz="1400" dirty="0"/>
              <a:t>Graph for Parliament</a:t>
            </a:r>
            <a:endParaRPr lang="en-US" sz="1400" b="0" dirty="0">
              <a:solidFill>
                <a:schemeClr val="tx1"/>
              </a:solidFill>
            </a:endParaRPr>
          </a:p>
        </p:txBody>
      </p:sp>
      <p:sp>
        <p:nvSpPr>
          <p:cNvPr id="475162" name="Rectangle 26" descr="Wide upward diagonal"/>
          <p:cNvSpPr>
            <a:spLocks noChangeArrowheads="1"/>
          </p:cNvSpPr>
          <p:nvPr/>
        </p:nvSpPr>
        <p:spPr bwMode="auto">
          <a:xfrm>
            <a:off x="5934868" y="4686300"/>
            <a:ext cx="990600" cy="1066800"/>
          </a:xfrm>
          <a:prstGeom prst="rect">
            <a:avLst/>
          </a:prstGeom>
          <a:gradFill flip="none" rotWithShape="1">
            <a:gsLst>
              <a:gs pos="50000">
                <a:schemeClr val="bg1"/>
              </a:gs>
              <a:gs pos="100000">
                <a:schemeClr val="accent1"/>
              </a:gs>
            </a:gsLst>
            <a:path path="rect">
              <a:fillToRect l="100000" t="100000"/>
            </a:path>
            <a:tileRect r="-100000" b="-100000"/>
          </a:gra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vert="horz" wrap="square" anchor="t" anchorCtr="0">
            <a:prstTxWarp prst="textNoShape">
              <a:avLst/>
            </a:prstTxWarp>
          </a:bodyPr>
          <a:lstStyle/>
          <a:p>
            <a:pPr algn="ctr" eaLnBrk="1" hangingPunct="1">
              <a:lnSpc>
                <a:spcPct val="100000"/>
              </a:lnSpc>
            </a:pPr>
            <a:endParaRPr lang="en-US" sz="1600" b="0" dirty="0">
              <a:solidFill>
                <a:schemeClr val="tx1"/>
              </a:solidFill>
            </a:endParaRPr>
          </a:p>
          <a:p>
            <a:pPr algn="ctr" eaLnBrk="1" hangingPunct="1">
              <a:lnSpc>
                <a:spcPct val="100000"/>
              </a:lnSpc>
            </a:pPr>
            <a:r>
              <a:rPr lang="en-US" sz="1600" b="0" dirty="0">
                <a:solidFill>
                  <a:schemeClr val="tx1"/>
                </a:solidFill>
              </a:rPr>
              <a:t>Rule Engine</a:t>
            </a:r>
          </a:p>
        </p:txBody>
      </p:sp>
      <p:sp>
        <p:nvSpPr>
          <p:cNvPr id="29" name="Rectangle 27"/>
          <p:cNvSpPr>
            <a:spLocks noChangeArrowheads="1"/>
          </p:cNvSpPr>
          <p:nvPr/>
        </p:nvSpPr>
        <p:spPr bwMode="auto">
          <a:xfrm>
            <a:off x="2505868" y="5905500"/>
            <a:ext cx="4648200" cy="533400"/>
          </a:xfrm>
          <a:prstGeom prst="rect">
            <a:avLst/>
          </a:prstGeom>
          <a:solidFill>
            <a:schemeClr val="bg1">
              <a:lumMod val="7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vert="horz" wrap="square" lIns="91440" anchor="ctr" anchorCtr="0">
            <a:prstTxWarp prst="textNoShape">
              <a:avLst/>
            </a:prstTxWarp>
          </a:bodyPr>
          <a:lstStyle/>
          <a:p>
            <a:pPr eaLnBrk="1" hangingPunct="1">
              <a:lnSpc>
                <a:spcPct val="100000"/>
              </a:lnSpc>
            </a:pPr>
            <a:r>
              <a:rPr lang="en-US" sz="1800" b="0" dirty="0">
                <a:solidFill>
                  <a:schemeClr val="tx1"/>
                </a:solidFill>
              </a:rPr>
              <a:t>Operating System</a:t>
            </a:r>
            <a:endParaRPr lang="en-US" sz="1800" b="0" baseline="30000" dirty="0">
              <a:solidFill>
                <a:schemeClr val="tx1"/>
              </a:solidFill>
            </a:endParaRPr>
          </a:p>
        </p:txBody>
      </p:sp>
      <p:sp>
        <p:nvSpPr>
          <p:cNvPr id="475163" name="Rectangle 27"/>
          <p:cNvSpPr>
            <a:spLocks noChangeArrowheads="1"/>
          </p:cNvSpPr>
          <p:nvPr/>
        </p:nvSpPr>
        <p:spPr bwMode="auto">
          <a:xfrm>
            <a:off x="5477668" y="5905500"/>
            <a:ext cx="1676400" cy="381000"/>
          </a:xfrm>
          <a:prstGeom prst="rect">
            <a:avLst/>
          </a:prstGeom>
          <a:solidFill>
            <a:schemeClr val="bg1">
              <a:lumMod val="7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vert="horz" wrap="square" lIns="91440" anchor="ctr" anchorCtr="0">
            <a:prstTxWarp prst="textNoShape">
              <a:avLst/>
            </a:prstTxWarp>
          </a:bodyPr>
          <a:lstStyle/>
          <a:p>
            <a:pPr algn="ctr" eaLnBrk="1" hangingPunct="1">
              <a:lnSpc>
                <a:spcPct val="100000"/>
              </a:lnSpc>
            </a:pPr>
            <a:r>
              <a:rPr lang="en-US" sz="1800" b="0" dirty="0">
                <a:solidFill>
                  <a:schemeClr val="tx1"/>
                </a:solidFill>
              </a:rPr>
              <a:t>Berkeley DB</a:t>
            </a:r>
            <a:endParaRPr lang="en-US" sz="1800" b="0" baseline="30000" dirty="0">
              <a:solidFill>
                <a:schemeClr val="tx1"/>
              </a:solidFill>
            </a:endParaRPr>
          </a:p>
        </p:txBody>
      </p:sp>
      <p:sp>
        <p:nvSpPr>
          <p:cNvPr id="30" name="Rectangle 17" descr="Wide upward diagonal"/>
          <p:cNvSpPr>
            <a:spLocks noChangeArrowheads="1"/>
          </p:cNvSpPr>
          <p:nvPr/>
        </p:nvSpPr>
        <p:spPr bwMode="auto">
          <a:xfrm>
            <a:off x="4953000" y="3771900"/>
            <a:ext cx="2201068" cy="381000"/>
          </a:xfrm>
          <a:prstGeom prst="rect">
            <a:avLst/>
          </a:prstGeom>
          <a:gradFill flip="none" rotWithShape="1">
            <a:gsLst>
              <a:gs pos="50000">
                <a:schemeClr val="bg1"/>
              </a:gs>
              <a:gs pos="100000">
                <a:schemeClr val="accent1"/>
              </a:gs>
            </a:gsLst>
            <a:path path="rect">
              <a:fillToRect l="100000" t="100000"/>
            </a:path>
            <a:tileRect r="-100000" b="-100000"/>
          </a:gra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vert="horz" wrap="square" anchor="t" anchorCtr="0">
            <a:prstTxWarp prst="textNoShape">
              <a:avLst/>
            </a:prstTxWarp>
          </a:bodyPr>
          <a:lstStyle/>
          <a:p>
            <a:pPr algn="ctr"/>
            <a:r>
              <a:rPr lang="en-US" sz="1400" b="0" dirty="0">
                <a:solidFill>
                  <a:schemeClr val="tx1"/>
                </a:solidFill>
              </a:rPr>
              <a:t>Sesame </a:t>
            </a:r>
            <a:r>
              <a:rPr lang="en-US" sz="1400" dirty="0"/>
              <a:t>SAIL for Parliament</a:t>
            </a:r>
            <a:endParaRPr lang="en-US" sz="1400" b="0" dirty="0">
              <a:solidFill>
                <a:schemeClr val="tx1"/>
              </a:solidFill>
            </a:endParaRPr>
          </a:p>
        </p:txBody>
      </p:sp>
      <p:sp>
        <p:nvSpPr>
          <p:cNvPr id="31" name="Rectangle 15"/>
          <p:cNvSpPr>
            <a:spLocks noChangeArrowheads="1"/>
          </p:cNvSpPr>
          <p:nvPr/>
        </p:nvSpPr>
        <p:spPr bwMode="auto">
          <a:xfrm>
            <a:off x="4953000" y="3086100"/>
            <a:ext cx="2201068" cy="685800"/>
          </a:xfrm>
          <a:prstGeom prst="rect">
            <a:avLst/>
          </a:prstGeom>
          <a:solidFill>
            <a:schemeClr val="bg1">
              <a:lumMod val="7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vert="horz" wrap="square" lIns="91440" anchor="ctr" anchorCtr="0">
            <a:prstTxWarp prst="textNoShape">
              <a:avLst/>
            </a:prstTxWarp>
          </a:bodyPr>
          <a:lstStyle/>
          <a:p>
            <a:pPr algn="ctr" eaLnBrk="1" hangingPunct="1">
              <a:lnSpc>
                <a:spcPct val="100000"/>
              </a:lnSpc>
            </a:pPr>
            <a:r>
              <a:rPr lang="en-US" sz="1600" b="0" dirty="0">
                <a:solidFill>
                  <a:schemeClr val="tx1"/>
                </a:solidFill>
              </a:rPr>
              <a:t>Sesame</a:t>
            </a:r>
          </a:p>
        </p:txBody>
      </p:sp>
      <p:sp>
        <p:nvSpPr>
          <p:cNvPr id="33" name="Rectangle 17" descr="Wide upward diagonal"/>
          <p:cNvSpPr>
            <a:spLocks noChangeArrowheads="1"/>
          </p:cNvSpPr>
          <p:nvPr/>
        </p:nvSpPr>
        <p:spPr bwMode="auto">
          <a:xfrm>
            <a:off x="2505868" y="3390900"/>
            <a:ext cx="2142332" cy="381000"/>
          </a:xfrm>
          <a:prstGeom prst="rect">
            <a:avLst/>
          </a:prstGeom>
          <a:gradFill flip="none" rotWithShape="1">
            <a:gsLst>
              <a:gs pos="50000">
                <a:schemeClr val="bg1"/>
              </a:gs>
              <a:gs pos="100000">
                <a:schemeClr val="accent1"/>
              </a:gs>
            </a:gsLst>
            <a:path path="rect">
              <a:fillToRect l="100000" t="100000"/>
            </a:path>
            <a:tileRect r="-100000" b="-100000"/>
          </a:gra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vert="horz" wrap="square" anchor="t" anchorCtr="0">
            <a:prstTxWarp prst="textNoShape">
              <a:avLst/>
            </a:prstTxWarp>
          </a:bodyPr>
          <a:lstStyle/>
          <a:p>
            <a:pPr algn="ctr"/>
            <a:r>
              <a:rPr lang="en-US" sz="1400" b="0" dirty="0">
                <a:solidFill>
                  <a:schemeClr val="tx1"/>
                </a:solidFill>
              </a:rPr>
              <a:t>Jena </a:t>
            </a:r>
            <a:r>
              <a:rPr lang="en-US" sz="1400" dirty="0"/>
              <a:t>Graph for Indexes</a:t>
            </a:r>
            <a:endParaRPr lang="en-US" sz="1400" b="0" dirty="0">
              <a:solidFill>
                <a:schemeClr val="tx1"/>
              </a:solidFill>
            </a:endParaRPr>
          </a:p>
        </p:txBody>
      </p:sp>
      <p:sp>
        <p:nvSpPr>
          <p:cNvPr id="34" name="Rectangle 17" descr="Wide upward diagonal"/>
          <p:cNvSpPr>
            <a:spLocks noChangeArrowheads="1"/>
          </p:cNvSpPr>
          <p:nvPr/>
        </p:nvSpPr>
        <p:spPr bwMode="auto">
          <a:xfrm>
            <a:off x="2505868" y="2324100"/>
            <a:ext cx="2142332" cy="381000"/>
          </a:xfrm>
          <a:prstGeom prst="rect">
            <a:avLst/>
          </a:prstGeom>
          <a:gradFill flip="none" rotWithShape="1">
            <a:gsLst>
              <a:gs pos="50000">
                <a:schemeClr val="bg1"/>
              </a:gs>
              <a:gs pos="100000">
                <a:schemeClr val="accent1"/>
              </a:gs>
            </a:gsLst>
            <a:path path="rect">
              <a:fillToRect l="100000" t="100000"/>
            </a:path>
            <a:tileRect r="-100000" b="-100000"/>
          </a:gra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vert="horz" wrap="square" anchor="t" anchorCtr="0">
            <a:prstTxWarp prst="textNoShape">
              <a:avLst/>
            </a:prstTxWarp>
          </a:bodyPr>
          <a:lstStyle/>
          <a:p>
            <a:pPr algn="ctr" eaLnBrk="1" hangingPunct="1">
              <a:lnSpc>
                <a:spcPct val="100000"/>
              </a:lnSpc>
            </a:pPr>
            <a:r>
              <a:rPr lang="en-US" sz="1600" b="0" dirty="0">
                <a:solidFill>
                  <a:schemeClr val="tx1"/>
                </a:solidFill>
              </a:rPr>
              <a:t>Named Graph Support</a:t>
            </a:r>
          </a:p>
        </p:txBody>
      </p:sp>
      <p:sp>
        <p:nvSpPr>
          <p:cNvPr id="35" name="Rectangle 17" descr="Wide upward diagonal"/>
          <p:cNvSpPr>
            <a:spLocks noChangeArrowheads="1"/>
          </p:cNvSpPr>
          <p:nvPr/>
        </p:nvSpPr>
        <p:spPr bwMode="auto">
          <a:xfrm>
            <a:off x="609600" y="2885863"/>
            <a:ext cx="1447800" cy="609601"/>
          </a:xfrm>
          <a:prstGeom prst="rect">
            <a:avLst/>
          </a:prstGeom>
          <a:gradFill flip="none" rotWithShape="1">
            <a:gsLst>
              <a:gs pos="50000">
                <a:schemeClr val="bg1"/>
              </a:gs>
              <a:gs pos="100000">
                <a:schemeClr val="accent1"/>
              </a:gs>
            </a:gsLst>
            <a:path path="rect">
              <a:fillToRect l="100000" t="100000"/>
            </a:path>
            <a:tileRect r="-100000" b="-100000"/>
          </a:gra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vert="horz" wrap="square" anchor="t" anchorCtr="0">
            <a:prstTxWarp prst="textNoShape">
              <a:avLst/>
            </a:prstTxWarp>
          </a:bodyPr>
          <a:lstStyle/>
          <a:p>
            <a:pPr algn="ctr" eaLnBrk="1" hangingPunct="1">
              <a:lnSpc>
                <a:spcPct val="100000"/>
              </a:lnSpc>
            </a:pPr>
            <a:r>
              <a:rPr lang="en-US" sz="1600" b="0" dirty="0">
                <a:solidFill>
                  <a:schemeClr val="tx1"/>
                </a:solidFill>
              </a:rPr>
              <a:t>Temporal Index</a:t>
            </a:r>
          </a:p>
        </p:txBody>
      </p:sp>
      <p:sp>
        <p:nvSpPr>
          <p:cNvPr id="36" name="Rectangle 17" descr="Wide upward diagonal"/>
          <p:cNvSpPr>
            <a:spLocks noChangeArrowheads="1"/>
          </p:cNvSpPr>
          <p:nvPr/>
        </p:nvSpPr>
        <p:spPr bwMode="auto">
          <a:xfrm>
            <a:off x="609599" y="3644781"/>
            <a:ext cx="1447800" cy="609600"/>
          </a:xfrm>
          <a:prstGeom prst="rect">
            <a:avLst/>
          </a:prstGeom>
          <a:gradFill flip="none" rotWithShape="1">
            <a:gsLst>
              <a:gs pos="50000">
                <a:schemeClr val="bg1"/>
              </a:gs>
              <a:gs pos="100000">
                <a:schemeClr val="accent1"/>
              </a:gs>
            </a:gsLst>
            <a:path path="rect">
              <a:fillToRect l="100000" t="100000"/>
            </a:path>
            <a:tileRect r="-100000" b="-100000"/>
          </a:gra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vert="horz" wrap="square" anchor="t" anchorCtr="0">
            <a:prstTxWarp prst="textNoShape">
              <a:avLst/>
            </a:prstTxWarp>
          </a:bodyPr>
          <a:lstStyle/>
          <a:p>
            <a:pPr algn="ctr" eaLnBrk="1" hangingPunct="1">
              <a:lnSpc>
                <a:spcPct val="100000"/>
              </a:lnSpc>
            </a:pPr>
            <a:r>
              <a:rPr lang="en-US" sz="1600" b="0" dirty="0">
                <a:solidFill>
                  <a:schemeClr val="tx1"/>
                </a:solidFill>
              </a:rPr>
              <a:t>Geospatial Index</a:t>
            </a:r>
          </a:p>
        </p:txBody>
      </p:sp>
      <p:cxnSp>
        <p:nvCxnSpPr>
          <p:cNvPr id="38" name="Elbow Connector 37"/>
          <p:cNvCxnSpPr>
            <a:stCxn id="33" idx="1"/>
            <a:endCxn id="36" idx="3"/>
          </p:cNvCxnSpPr>
          <p:nvPr/>
        </p:nvCxnSpPr>
        <p:spPr>
          <a:xfrm rot="10800000" flipV="1">
            <a:off x="2057400" y="3581399"/>
            <a:ext cx="448469" cy="368181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Elbow Connector 41"/>
          <p:cNvCxnSpPr>
            <a:stCxn id="33" idx="1"/>
            <a:endCxn id="35" idx="3"/>
          </p:cNvCxnSpPr>
          <p:nvPr/>
        </p:nvCxnSpPr>
        <p:spPr>
          <a:xfrm rot="10800000">
            <a:off x="2057400" y="3190664"/>
            <a:ext cx="448468" cy="390736"/>
          </a:xfrm>
          <a:prstGeom prst="bentConnector3">
            <a:avLst>
              <a:gd name="adj1" fmla="val 50000"/>
            </a:avLst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Bent Arrow 48"/>
          <p:cNvSpPr/>
          <p:nvPr/>
        </p:nvSpPr>
        <p:spPr>
          <a:xfrm rot="5400000">
            <a:off x="2105818" y="819150"/>
            <a:ext cx="800100" cy="1447800"/>
          </a:xfrm>
          <a:prstGeom prst="bentArrow">
            <a:avLst>
              <a:gd name="adj1" fmla="val 36261"/>
              <a:gd name="adj2" fmla="val 36261"/>
              <a:gd name="adj3" fmla="val 40015"/>
              <a:gd name="adj4" fmla="val 43750"/>
            </a:avLst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1896269" y="1143000"/>
            <a:ext cx="8382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/>
              <a:t>SPARQL</a:t>
            </a:r>
          </a:p>
        </p:txBody>
      </p:sp>
      <p:sp>
        <p:nvSpPr>
          <p:cNvPr id="51" name="Bent Arrow 50"/>
          <p:cNvSpPr/>
          <p:nvPr/>
        </p:nvSpPr>
        <p:spPr>
          <a:xfrm rot="16200000" flipH="1">
            <a:off x="5801518" y="1962150"/>
            <a:ext cx="800100" cy="1447800"/>
          </a:xfrm>
          <a:prstGeom prst="bentArrow">
            <a:avLst>
              <a:gd name="adj1" fmla="val 36261"/>
              <a:gd name="adj2" fmla="val 36261"/>
              <a:gd name="adj3" fmla="val 40015"/>
              <a:gd name="adj4" fmla="val 43750"/>
            </a:avLst>
          </a:prstGeom>
          <a:effectLst>
            <a:outerShdw blurRad="40000" dist="2300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6087268" y="2286000"/>
            <a:ext cx="8382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dirty="0"/>
              <a:t>SERQL</a:t>
            </a:r>
          </a:p>
        </p:txBody>
      </p:sp>
      <p:cxnSp>
        <p:nvCxnSpPr>
          <p:cNvPr id="56" name="Straight Connector 55"/>
          <p:cNvCxnSpPr/>
          <p:nvPr/>
        </p:nvCxnSpPr>
        <p:spPr>
          <a:xfrm>
            <a:off x="7276306" y="4151312"/>
            <a:ext cx="990600" cy="158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/>
          <p:cNvCxnSpPr/>
          <p:nvPr/>
        </p:nvCxnSpPr>
        <p:spPr>
          <a:xfrm rot="5400000" flipH="1" flipV="1">
            <a:off x="6903244" y="3580607"/>
            <a:ext cx="1066800" cy="1588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/>
          <p:cNvCxnSpPr/>
          <p:nvPr/>
        </p:nvCxnSpPr>
        <p:spPr>
          <a:xfrm rot="5400000">
            <a:off x="6940550" y="4685506"/>
            <a:ext cx="989012" cy="1588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7437438" y="4256901"/>
            <a:ext cx="838200" cy="276999"/>
          </a:xfrm>
          <a:prstGeom prst="rect">
            <a:avLst/>
          </a:prstGeom>
          <a:noFill/>
        </p:spPr>
        <p:txBody>
          <a:bodyPr wrap="square" lIns="91440" tIns="0" rIns="0" bIns="0" rtlCol="0">
            <a:spAutoFit/>
          </a:bodyPr>
          <a:lstStyle/>
          <a:p>
            <a:r>
              <a:rPr lang="en-US" dirty="0"/>
              <a:t>C++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434262" y="3771900"/>
            <a:ext cx="838200" cy="276999"/>
          </a:xfrm>
          <a:prstGeom prst="rect">
            <a:avLst/>
          </a:prstGeom>
          <a:noFill/>
        </p:spPr>
        <p:txBody>
          <a:bodyPr wrap="square" lIns="91440" tIns="0" rIns="0" bIns="0" rtlCol="0">
            <a:spAutoFit/>
          </a:bodyPr>
          <a:lstStyle/>
          <a:p>
            <a:r>
              <a:rPr lang="en-US" dirty="0"/>
              <a:t>Java</a:t>
            </a:r>
          </a:p>
        </p:txBody>
      </p:sp>
      <p:sp>
        <p:nvSpPr>
          <p:cNvPr id="28" name="Rectangle 15"/>
          <p:cNvSpPr>
            <a:spLocks noChangeArrowheads="1"/>
          </p:cNvSpPr>
          <p:nvPr/>
        </p:nvSpPr>
        <p:spPr bwMode="auto">
          <a:xfrm>
            <a:off x="6751638" y="1333500"/>
            <a:ext cx="2057400" cy="381000"/>
          </a:xfrm>
          <a:prstGeom prst="rect">
            <a:avLst/>
          </a:prstGeom>
          <a:solidFill>
            <a:schemeClr val="bg1">
              <a:lumMod val="7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vert="horz" wrap="square" lIns="91440" anchor="ctr" anchorCtr="0">
            <a:prstTxWarp prst="textNoShape">
              <a:avLst/>
            </a:prstTxWarp>
          </a:bodyPr>
          <a:lstStyle/>
          <a:p>
            <a:pPr algn="ctr" eaLnBrk="1" hangingPunct="1">
              <a:lnSpc>
                <a:spcPct val="100000"/>
              </a:lnSpc>
            </a:pPr>
            <a:r>
              <a:rPr lang="en-US" sz="1400" b="0" dirty="0">
                <a:solidFill>
                  <a:schemeClr val="tx1"/>
                </a:solidFill>
              </a:rPr>
              <a:t>Third-Party Components</a:t>
            </a:r>
          </a:p>
        </p:txBody>
      </p:sp>
      <p:sp>
        <p:nvSpPr>
          <p:cNvPr id="32" name="Rectangle 17" descr="Wide upward diagonal"/>
          <p:cNvSpPr>
            <a:spLocks noChangeArrowheads="1"/>
          </p:cNvSpPr>
          <p:nvPr/>
        </p:nvSpPr>
        <p:spPr bwMode="auto">
          <a:xfrm>
            <a:off x="6751638" y="952500"/>
            <a:ext cx="2057400" cy="381000"/>
          </a:xfrm>
          <a:prstGeom prst="rect">
            <a:avLst/>
          </a:prstGeom>
          <a:gradFill flip="none" rotWithShape="1">
            <a:gsLst>
              <a:gs pos="50000">
                <a:schemeClr val="bg1"/>
              </a:gs>
              <a:gs pos="100000">
                <a:schemeClr val="accent1"/>
              </a:gs>
            </a:gsLst>
            <a:path path="rect">
              <a:fillToRect l="100000" t="100000"/>
            </a:path>
            <a:tileRect r="-100000" b="-100000"/>
          </a:gra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vert="horz" wrap="square" anchor="t" anchorCtr="0">
            <a:prstTxWarp prst="textNoShape">
              <a:avLst/>
            </a:prstTxWarp>
          </a:bodyPr>
          <a:lstStyle/>
          <a:p>
            <a:pPr algn="ctr" eaLnBrk="1" hangingPunct="1">
              <a:lnSpc>
                <a:spcPct val="100000"/>
              </a:lnSpc>
            </a:pPr>
            <a:r>
              <a:rPr lang="en-US" sz="1400" b="0" dirty="0">
                <a:solidFill>
                  <a:schemeClr val="tx1"/>
                </a:solidFill>
              </a:rPr>
              <a:t>Parliament Components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140" name="Rectangle 4"/>
          <p:cNvSpPr>
            <a:spLocks noGrp="1" noChangeArrowheads="1"/>
          </p:cNvSpPr>
          <p:nvPr>
            <p:ph type="title"/>
          </p:nvPr>
        </p:nvSpPr>
        <p:spPr>
          <a:xfrm>
            <a:off x="76200" y="196850"/>
            <a:ext cx="8991600" cy="488950"/>
          </a:xfrm>
        </p:spPr>
        <p:txBody>
          <a:bodyPr>
            <a:normAutofit fontScale="90000"/>
          </a:bodyPr>
          <a:lstStyle/>
          <a:p>
            <a:r>
              <a:rPr lang="en-US" dirty="0"/>
              <a:t>Parliament™ Architecture (2)</a:t>
            </a:r>
          </a:p>
        </p:txBody>
      </p:sp>
      <p:sp>
        <p:nvSpPr>
          <p:cNvPr id="475149" name="Rectangle 13" descr="Wide upward diagonal"/>
          <p:cNvSpPr>
            <a:spLocks noChangeArrowheads="1"/>
          </p:cNvSpPr>
          <p:nvPr/>
        </p:nvSpPr>
        <p:spPr bwMode="auto">
          <a:xfrm>
            <a:off x="2514600" y="3886200"/>
            <a:ext cx="3810000" cy="6096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vert="horz" wrap="square" lIns="91440" anchor="t" anchorCtr="0">
            <a:prstTxWarp prst="textNoShape">
              <a:avLst/>
            </a:prstTxWarp>
            <a:noAutofit/>
          </a:bodyPr>
          <a:lstStyle/>
          <a:p>
            <a:r>
              <a:rPr lang="en-US" sz="1400" b="0" dirty="0">
                <a:solidFill>
                  <a:schemeClr val="tx1"/>
                </a:solidFill>
              </a:rPr>
              <a:t>Parliament</a:t>
            </a:r>
          </a:p>
          <a:p>
            <a:r>
              <a:rPr lang="en-US" sz="1400" dirty="0"/>
              <a:t>Storage </a:t>
            </a:r>
            <a:r>
              <a:rPr lang="en-US" sz="1400" b="0" dirty="0">
                <a:solidFill>
                  <a:schemeClr val="tx1"/>
                </a:solidFill>
              </a:rPr>
              <a:t>Manager</a:t>
            </a:r>
          </a:p>
        </p:txBody>
      </p:sp>
      <p:sp>
        <p:nvSpPr>
          <p:cNvPr id="475151" name="Rectangle 15"/>
          <p:cNvSpPr>
            <a:spLocks noChangeArrowheads="1"/>
          </p:cNvSpPr>
          <p:nvPr/>
        </p:nvSpPr>
        <p:spPr bwMode="auto">
          <a:xfrm>
            <a:off x="2514600" y="2057400"/>
            <a:ext cx="3810000" cy="381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vert="horz" wrap="square" lIns="91440" anchor="t" anchorCtr="0">
            <a:prstTxWarp prst="textNoShape">
              <a:avLst/>
            </a:prstTxWarp>
            <a:noAutofit/>
          </a:bodyPr>
          <a:lstStyle/>
          <a:p>
            <a:pPr eaLnBrk="1" hangingPunct="1">
              <a:lnSpc>
                <a:spcPct val="100000"/>
              </a:lnSpc>
            </a:pPr>
            <a:r>
              <a:rPr lang="en-US" sz="1400" b="0" dirty="0">
                <a:solidFill>
                  <a:schemeClr val="tx1"/>
                </a:solidFill>
              </a:rPr>
              <a:t>Web Interface</a:t>
            </a:r>
          </a:p>
        </p:txBody>
      </p:sp>
      <p:sp>
        <p:nvSpPr>
          <p:cNvPr id="475152" name="Rectangle 16"/>
          <p:cNvSpPr>
            <a:spLocks noChangeArrowheads="1"/>
          </p:cNvSpPr>
          <p:nvPr/>
        </p:nvSpPr>
        <p:spPr bwMode="auto">
          <a:xfrm>
            <a:off x="2514600" y="2743200"/>
            <a:ext cx="3810000" cy="838200"/>
          </a:xfrm>
          <a:prstGeom prst="rect">
            <a:avLst/>
          </a:prstGeom>
          <a:solidFill>
            <a:schemeClr val="bg1">
              <a:lumMod val="7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vert="horz" wrap="square" lIns="91440" anchor="t" anchorCtr="0">
            <a:prstTxWarp prst="textNoShape">
              <a:avLst/>
            </a:prstTxWarp>
            <a:noAutofit/>
          </a:bodyPr>
          <a:lstStyle/>
          <a:p>
            <a:r>
              <a:rPr lang="en-US" sz="1400" dirty="0"/>
              <a:t>Query Processor (Jena + ARQ)</a:t>
            </a:r>
            <a:endParaRPr lang="en-US" sz="1400" b="0" dirty="0">
              <a:solidFill>
                <a:schemeClr val="tx1"/>
              </a:solidFill>
            </a:endParaRPr>
          </a:p>
        </p:txBody>
      </p:sp>
      <p:sp>
        <p:nvSpPr>
          <p:cNvPr id="475153" name="Rectangle 17" descr="Wide upward diagonal"/>
          <p:cNvSpPr>
            <a:spLocks noChangeArrowheads="1"/>
          </p:cNvSpPr>
          <p:nvPr/>
        </p:nvSpPr>
        <p:spPr bwMode="auto">
          <a:xfrm>
            <a:off x="2514600" y="3581400"/>
            <a:ext cx="3810000" cy="3048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vert="horz" wrap="square" lIns="91440" anchor="t" anchorCtr="0">
            <a:prstTxWarp prst="textNoShape">
              <a:avLst/>
            </a:prstTxWarp>
            <a:noAutofit/>
          </a:bodyPr>
          <a:lstStyle/>
          <a:p>
            <a:r>
              <a:rPr lang="en-US" sz="1400" dirty="0"/>
              <a:t>Storage Adapter</a:t>
            </a:r>
            <a:endParaRPr lang="en-US" sz="1400" b="0" dirty="0">
              <a:solidFill>
                <a:schemeClr val="tx1"/>
              </a:solidFill>
            </a:endParaRPr>
          </a:p>
        </p:txBody>
      </p:sp>
      <p:sp>
        <p:nvSpPr>
          <p:cNvPr id="475162" name="Rectangle 26" descr="Wide upward diagonal"/>
          <p:cNvSpPr>
            <a:spLocks noChangeArrowheads="1"/>
          </p:cNvSpPr>
          <p:nvPr/>
        </p:nvSpPr>
        <p:spPr bwMode="auto">
          <a:xfrm>
            <a:off x="4876800" y="4038600"/>
            <a:ext cx="1371600" cy="3048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vert="horz" wrap="square" lIns="91440" anchor="t" anchorCtr="0">
            <a:prstTxWarp prst="textNoShape">
              <a:avLst/>
            </a:prstTxWarp>
            <a:noAutofit/>
          </a:bodyPr>
          <a:lstStyle/>
          <a:p>
            <a:pPr algn="ctr" eaLnBrk="1" hangingPunct="1">
              <a:lnSpc>
                <a:spcPct val="100000"/>
              </a:lnSpc>
            </a:pPr>
            <a:r>
              <a:rPr lang="en-US" sz="1400" b="0" dirty="0">
                <a:solidFill>
                  <a:schemeClr val="tx1"/>
                </a:solidFill>
              </a:rPr>
              <a:t>Rule Engine</a:t>
            </a:r>
          </a:p>
        </p:txBody>
      </p:sp>
      <p:sp>
        <p:nvSpPr>
          <p:cNvPr id="29" name="Rectangle 27"/>
          <p:cNvSpPr>
            <a:spLocks noChangeArrowheads="1"/>
          </p:cNvSpPr>
          <p:nvPr/>
        </p:nvSpPr>
        <p:spPr bwMode="auto">
          <a:xfrm>
            <a:off x="2514600" y="4495800"/>
            <a:ext cx="3810000" cy="381000"/>
          </a:xfrm>
          <a:prstGeom prst="rect">
            <a:avLst/>
          </a:prstGeom>
          <a:solidFill>
            <a:schemeClr val="bg1">
              <a:lumMod val="7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vert="horz" wrap="square" lIns="91440" anchor="t" anchorCtr="0">
            <a:prstTxWarp prst="textNoShape">
              <a:avLst/>
            </a:prstTxWarp>
            <a:noAutofit/>
          </a:bodyPr>
          <a:lstStyle/>
          <a:p>
            <a:pPr eaLnBrk="1" hangingPunct="1">
              <a:lnSpc>
                <a:spcPct val="100000"/>
              </a:lnSpc>
            </a:pPr>
            <a:r>
              <a:rPr lang="en-US" sz="1400" b="0" dirty="0">
                <a:solidFill>
                  <a:schemeClr val="tx1"/>
                </a:solidFill>
              </a:rPr>
              <a:t>Operating System</a:t>
            </a:r>
            <a:endParaRPr lang="en-US" sz="1400" b="0" baseline="30000" dirty="0">
              <a:solidFill>
                <a:schemeClr val="tx1"/>
              </a:solidFill>
            </a:endParaRPr>
          </a:p>
        </p:txBody>
      </p:sp>
      <p:sp>
        <p:nvSpPr>
          <p:cNvPr id="475163" name="Rectangle 27"/>
          <p:cNvSpPr>
            <a:spLocks noChangeArrowheads="1"/>
          </p:cNvSpPr>
          <p:nvPr/>
        </p:nvSpPr>
        <p:spPr bwMode="auto">
          <a:xfrm>
            <a:off x="4876800" y="4495800"/>
            <a:ext cx="1371600" cy="304800"/>
          </a:xfrm>
          <a:prstGeom prst="rect">
            <a:avLst/>
          </a:prstGeom>
          <a:solidFill>
            <a:schemeClr val="bg1">
              <a:lumMod val="7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vert="horz" wrap="square" lIns="91440" anchor="t" anchorCtr="0">
            <a:prstTxWarp prst="textNoShape">
              <a:avLst/>
            </a:prstTxWarp>
            <a:noAutofit/>
          </a:bodyPr>
          <a:lstStyle/>
          <a:p>
            <a:pPr algn="ctr" eaLnBrk="1" hangingPunct="1">
              <a:lnSpc>
                <a:spcPct val="100000"/>
              </a:lnSpc>
            </a:pPr>
            <a:r>
              <a:rPr lang="en-US" sz="1400" b="0" dirty="0" err="1">
                <a:solidFill>
                  <a:schemeClr val="tx1"/>
                </a:solidFill>
              </a:rPr>
              <a:t>RocksDB</a:t>
            </a:r>
            <a:endParaRPr lang="en-US" sz="1400" b="0" baseline="30000" dirty="0">
              <a:solidFill>
                <a:schemeClr val="tx1"/>
              </a:solidFill>
            </a:endParaRPr>
          </a:p>
        </p:txBody>
      </p:sp>
      <p:sp>
        <p:nvSpPr>
          <p:cNvPr id="33" name="Rectangle 17" descr="Wide upward diagonal"/>
          <p:cNvSpPr>
            <a:spLocks noChangeArrowheads="1"/>
          </p:cNvSpPr>
          <p:nvPr/>
        </p:nvSpPr>
        <p:spPr bwMode="auto">
          <a:xfrm>
            <a:off x="2514600" y="3276600"/>
            <a:ext cx="1524000" cy="3048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vert="horz" wrap="square" lIns="91440" anchor="t" anchorCtr="0">
            <a:prstTxWarp prst="textNoShape">
              <a:avLst/>
            </a:prstTxWarp>
            <a:noAutofit/>
          </a:bodyPr>
          <a:lstStyle/>
          <a:p>
            <a:r>
              <a:rPr lang="en-US" sz="1400" dirty="0"/>
              <a:t>Index Adapter</a:t>
            </a:r>
            <a:endParaRPr lang="en-US" sz="1400" b="0" dirty="0">
              <a:solidFill>
                <a:schemeClr val="tx1"/>
              </a:solidFill>
            </a:endParaRPr>
          </a:p>
        </p:txBody>
      </p:sp>
      <p:sp>
        <p:nvSpPr>
          <p:cNvPr id="34" name="Rectangle 17" descr="Wide upward diagonal"/>
          <p:cNvSpPr>
            <a:spLocks noChangeArrowheads="1"/>
          </p:cNvSpPr>
          <p:nvPr/>
        </p:nvSpPr>
        <p:spPr bwMode="auto">
          <a:xfrm>
            <a:off x="2514600" y="2438400"/>
            <a:ext cx="3810000" cy="3048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vert="horz" wrap="square" lIns="91440" anchor="t" anchorCtr="0">
            <a:prstTxWarp prst="textNoShape">
              <a:avLst/>
            </a:prstTxWarp>
            <a:noAutofit/>
          </a:bodyPr>
          <a:lstStyle/>
          <a:p>
            <a:pPr eaLnBrk="1" hangingPunct="1">
              <a:lnSpc>
                <a:spcPct val="100000"/>
              </a:lnSpc>
            </a:pPr>
            <a:r>
              <a:rPr lang="en-US" sz="1400" b="0" dirty="0">
                <a:solidFill>
                  <a:schemeClr val="tx1"/>
                </a:solidFill>
              </a:rPr>
              <a:t>Named Graph Support</a:t>
            </a:r>
          </a:p>
        </p:txBody>
      </p:sp>
      <p:sp>
        <p:nvSpPr>
          <p:cNvPr id="35" name="Rectangle 17" descr="Wide upward diagonal"/>
          <p:cNvSpPr>
            <a:spLocks noChangeArrowheads="1"/>
          </p:cNvSpPr>
          <p:nvPr/>
        </p:nvSpPr>
        <p:spPr bwMode="auto">
          <a:xfrm>
            <a:off x="1219200" y="2743200"/>
            <a:ext cx="990600" cy="5334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vert="horz" wrap="square" lIns="91440" anchor="t" anchorCtr="0">
            <a:prstTxWarp prst="textNoShape">
              <a:avLst/>
            </a:prstTxWarp>
            <a:noAutofit/>
          </a:bodyPr>
          <a:lstStyle/>
          <a:p>
            <a:pPr algn="ctr" eaLnBrk="1" hangingPunct="1">
              <a:lnSpc>
                <a:spcPct val="100000"/>
              </a:lnSpc>
            </a:pPr>
            <a:r>
              <a:rPr lang="en-US" sz="1400" b="0" dirty="0">
                <a:solidFill>
                  <a:schemeClr val="tx1"/>
                </a:solidFill>
              </a:rPr>
              <a:t>Temporal Index</a:t>
            </a:r>
          </a:p>
        </p:txBody>
      </p:sp>
      <p:sp>
        <p:nvSpPr>
          <p:cNvPr id="36" name="Rectangle 17" descr="Wide upward diagonal"/>
          <p:cNvSpPr>
            <a:spLocks noChangeArrowheads="1"/>
          </p:cNvSpPr>
          <p:nvPr/>
        </p:nvSpPr>
        <p:spPr bwMode="auto">
          <a:xfrm>
            <a:off x="1219200" y="3352800"/>
            <a:ext cx="990600" cy="5334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vert="horz" wrap="square" lIns="91440" anchor="t" anchorCtr="0">
            <a:prstTxWarp prst="textNoShape">
              <a:avLst/>
            </a:prstTxWarp>
            <a:noAutofit/>
          </a:bodyPr>
          <a:lstStyle/>
          <a:p>
            <a:pPr algn="ctr" eaLnBrk="1" hangingPunct="1">
              <a:lnSpc>
                <a:spcPct val="100000"/>
              </a:lnSpc>
            </a:pPr>
            <a:r>
              <a:rPr lang="en-US" sz="1400" b="0" dirty="0">
                <a:solidFill>
                  <a:schemeClr val="tx1"/>
                </a:solidFill>
              </a:rPr>
              <a:t>Geospatial Index</a:t>
            </a:r>
          </a:p>
        </p:txBody>
      </p:sp>
      <p:cxnSp>
        <p:nvCxnSpPr>
          <p:cNvPr id="38" name="Elbow Connector 37"/>
          <p:cNvCxnSpPr>
            <a:stCxn id="33" idx="1"/>
            <a:endCxn id="36" idx="3"/>
          </p:cNvCxnSpPr>
          <p:nvPr/>
        </p:nvCxnSpPr>
        <p:spPr>
          <a:xfrm rot="10800000" flipV="1">
            <a:off x="2209800" y="3429000"/>
            <a:ext cx="304800" cy="190500"/>
          </a:xfrm>
          <a:prstGeom prst="bentConnector3">
            <a:avLst>
              <a:gd name="adj1" fmla="val 50000"/>
            </a:avLst>
          </a:prstGeom>
          <a:ln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Elbow Connector 41"/>
          <p:cNvCxnSpPr>
            <a:stCxn id="33" idx="1"/>
            <a:endCxn id="35" idx="3"/>
          </p:cNvCxnSpPr>
          <p:nvPr/>
        </p:nvCxnSpPr>
        <p:spPr>
          <a:xfrm rot="10800000">
            <a:off x="2209800" y="3009900"/>
            <a:ext cx="304800" cy="419100"/>
          </a:xfrm>
          <a:prstGeom prst="bentConnector3">
            <a:avLst>
              <a:gd name="adj1" fmla="val 50000"/>
            </a:avLst>
          </a:prstGeom>
          <a:ln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Bent Arrow 48"/>
          <p:cNvSpPr/>
          <p:nvPr/>
        </p:nvSpPr>
        <p:spPr>
          <a:xfrm rot="5400000">
            <a:off x="2133600" y="914400"/>
            <a:ext cx="762000" cy="1524000"/>
          </a:xfrm>
          <a:prstGeom prst="bentArrow">
            <a:avLst>
              <a:gd name="adj1" fmla="val 40480"/>
              <a:gd name="adj2" fmla="val 36261"/>
              <a:gd name="adj3" fmla="val 40015"/>
              <a:gd name="adj4" fmla="val 43750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1828800" y="1295400"/>
            <a:ext cx="1295400" cy="30480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r>
              <a:rPr lang="en-US" sz="1400" dirty="0"/>
              <a:t>SPARQL Queries</a:t>
            </a:r>
          </a:p>
        </p:txBody>
      </p:sp>
      <p:cxnSp>
        <p:nvCxnSpPr>
          <p:cNvPr id="56" name="Straight Connector 55"/>
          <p:cNvCxnSpPr/>
          <p:nvPr/>
        </p:nvCxnSpPr>
        <p:spPr>
          <a:xfrm>
            <a:off x="6400800" y="3886200"/>
            <a:ext cx="914400" cy="0"/>
          </a:xfrm>
          <a:prstGeom prst="line">
            <a:avLst/>
          </a:prstGeom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/>
          <p:cNvCxnSpPr/>
          <p:nvPr/>
        </p:nvCxnSpPr>
        <p:spPr>
          <a:xfrm flipV="1">
            <a:off x="6553200" y="2895600"/>
            <a:ext cx="0" cy="914400"/>
          </a:xfrm>
          <a:prstGeom prst="straightConnector1">
            <a:avLst/>
          </a:prstGeom>
          <a:ln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/>
          <p:cNvCxnSpPr/>
          <p:nvPr/>
        </p:nvCxnSpPr>
        <p:spPr>
          <a:xfrm flipH="1">
            <a:off x="6553200" y="3962400"/>
            <a:ext cx="1588" cy="914400"/>
          </a:xfrm>
          <a:prstGeom prst="straightConnector1">
            <a:avLst/>
          </a:prstGeom>
          <a:ln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6553200" y="3886200"/>
            <a:ext cx="762000" cy="457200"/>
          </a:xfrm>
          <a:prstGeom prst="rect">
            <a:avLst/>
          </a:prstGeom>
          <a:noFill/>
        </p:spPr>
        <p:txBody>
          <a:bodyPr wrap="square" lIns="91440" tIns="91440" rIns="0" bIns="0" rtlCol="0">
            <a:noAutofit/>
          </a:bodyPr>
          <a:lstStyle/>
          <a:p>
            <a:r>
              <a:rPr lang="en-US" sz="1400" dirty="0"/>
              <a:t>C++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553200" y="3429000"/>
            <a:ext cx="762000" cy="457200"/>
          </a:xfrm>
          <a:prstGeom prst="rect">
            <a:avLst/>
          </a:prstGeom>
          <a:noFill/>
        </p:spPr>
        <p:txBody>
          <a:bodyPr wrap="square" lIns="91440" tIns="0" rIns="0" bIns="91440" rtlCol="0" anchor="b" anchorCtr="0">
            <a:noAutofit/>
          </a:bodyPr>
          <a:lstStyle/>
          <a:p>
            <a:r>
              <a:rPr lang="en-US" sz="1400" dirty="0"/>
              <a:t>Java</a:t>
            </a:r>
          </a:p>
        </p:txBody>
      </p:sp>
      <p:sp>
        <p:nvSpPr>
          <p:cNvPr id="28" name="Rectangle 15"/>
          <p:cNvSpPr>
            <a:spLocks noChangeArrowheads="1"/>
          </p:cNvSpPr>
          <p:nvPr/>
        </p:nvSpPr>
        <p:spPr bwMode="auto">
          <a:xfrm>
            <a:off x="5334000" y="1600200"/>
            <a:ext cx="1828800" cy="304800"/>
          </a:xfrm>
          <a:prstGeom prst="rect">
            <a:avLst/>
          </a:prstGeom>
          <a:solidFill>
            <a:schemeClr val="bg1">
              <a:lumMod val="7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vert="horz" wrap="square" lIns="91440" anchor="ctr" anchorCtr="0">
            <a:prstTxWarp prst="textNoShape">
              <a:avLst/>
            </a:prstTxWarp>
            <a:noAutofit/>
          </a:bodyPr>
          <a:lstStyle/>
          <a:p>
            <a:pPr algn="ctr" eaLnBrk="1" hangingPunct="1">
              <a:lnSpc>
                <a:spcPct val="100000"/>
              </a:lnSpc>
            </a:pPr>
            <a:r>
              <a:rPr lang="en-US" sz="1400" b="0" dirty="0">
                <a:solidFill>
                  <a:schemeClr val="tx1"/>
                </a:solidFill>
              </a:rPr>
              <a:t>3</a:t>
            </a:r>
            <a:r>
              <a:rPr lang="en-US" sz="1400" b="0" baseline="30000" dirty="0">
                <a:solidFill>
                  <a:schemeClr val="tx1"/>
                </a:solidFill>
              </a:rPr>
              <a:t>rd</a:t>
            </a:r>
            <a:r>
              <a:rPr lang="en-US" sz="1400" b="0" dirty="0">
                <a:solidFill>
                  <a:schemeClr val="tx1"/>
                </a:solidFill>
              </a:rPr>
              <a:t>-Party Components</a:t>
            </a:r>
          </a:p>
        </p:txBody>
      </p:sp>
      <p:sp>
        <p:nvSpPr>
          <p:cNvPr id="32" name="Rectangle 17" descr="Wide upward diagonal"/>
          <p:cNvSpPr>
            <a:spLocks noChangeArrowheads="1"/>
          </p:cNvSpPr>
          <p:nvPr/>
        </p:nvSpPr>
        <p:spPr bwMode="auto">
          <a:xfrm>
            <a:off x="5334000" y="1295400"/>
            <a:ext cx="1828800" cy="3048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vert="horz" wrap="square" lIns="91440" anchor="t" anchorCtr="0">
            <a:prstTxWarp prst="textNoShape">
              <a:avLst/>
            </a:prstTxWarp>
            <a:noAutofit/>
          </a:bodyPr>
          <a:lstStyle/>
          <a:p>
            <a:pPr algn="ctr" eaLnBrk="1" hangingPunct="1">
              <a:lnSpc>
                <a:spcPct val="100000"/>
              </a:lnSpc>
            </a:pPr>
            <a:r>
              <a:rPr lang="en-US" sz="1400" b="0" dirty="0">
                <a:solidFill>
                  <a:schemeClr val="tx1"/>
                </a:solidFill>
              </a:rPr>
              <a:t>BBN Components</a:t>
            </a:r>
          </a:p>
        </p:txBody>
      </p:sp>
      <p:sp>
        <p:nvSpPr>
          <p:cNvPr id="30" name="Rectangle 17" descr="Wide upward diagonal"/>
          <p:cNvSpPr>
            <a:spLocks noChangeArrowheads="1"/>
          </p:cNvSpPr>
          <p:nvPr/>
        </p:nvSpPr>
        <p:spPr bwMode="auto">
          <a:xfrm>
            <a:off x="4876800" y="2819400"/>
            <a:ext cx="1371600" cy="762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vert="horz" wrap="square" lIns="91440" anchor="t" anchorCtr="0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dirty="0"/>
              <a:t>Query Optimizer Customizations</a:t>
            </a:r>
            <a:endParaRPr lang="en-US" sz="1400" b="0" dirty="0">
              <a:solidFill>
                <a:schemeClr val="tx1"/>
              </a:solidFill>
            </a:endParaRPr>
          </a:p>
        </p:txBody>
      </p:sp>
      <p:sp>
        <p:nvSpPr>
          <p:cNvPr id="31" name="Rectangle 17" descr="Wide upward diagonal"/>
          <p:cNvSpPr>
            <a:spLocks noChangeArrowheads="1"/>
          </p:cNvSpPr>
          <p:nvPr/>
        </p:nvSpPr>
        <p:spPr bwMode="auto">
          <a:xfrm>
            <a:off x="4876800" y="2133600"/>
            <a:ext cx="1371600" cy="3048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vert="horz" wrap="square" lIns="91440" anchor="t" anchorCtr="0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dirty="0"/>
              <a:t>Admin Interface</a:t>
            </a:r>
            <a:endParaRPr lang="en-US" sz="1400" b="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51541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82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sz="4600" dirty="0"/>
              <a:t>Parliament™ File Structure</a:t>
            </a:r>
            <a:endParaRPr lang="en-US" sz="2000" i="1" dirty="0"/>
          </a:p>
        </p:txBody>
      </p:sp>
      <p:sp>
        <p:nvSpPr>
          <p:cNvPr id="333828" name="Text Box 4"/>
          <p:cNvSpPr txBox="1">
            <a:spLocks noChangeArrowheads="1"/>
          </p:cNvSpPr>
          <p:nvPr/>
        </p:nvSpPr>
        <p:spPr bwMode="auto">
          <a:xfrm>
            <a:off x="1371600" y="3429000"/>
            <a:ext cx="2286000" cy="1614488"/>
          </a:xfrm>
          <a:prstGeom prst="rect">
            <a:avLst/>
          </a:prstGeom>
          <a:gradFill flip="none" rotWithShape="1">
            <a:gsLst>
              <a:gs pos="60000">
                <a:schemeClr val="accent1"/>
              </a:gs>
              <a:gs pos="100000">
                <a:srgbClr val="FFFFFF"/>
              </a:gs>
            </a:gsLst>
            <a:lin ang="0" scaled="1"/>
            <a:tileRect/>
          </a:gra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>
            <a:prstTxWarp prst="textNoShape">
              <a:avLst/>
            </a:prstTxWarp>
            <a:spAutoFit/>
          </a:bodyPr>
          <a:lstStyle/>
          <a:p>
            <a:pPr marL="176213" indent="-176213">
              <a:spcBef>
                <a:spcPct val="50000"/>
              </a:spcBef>
            </a:pPr>
            <a:r>
              <a:rPr lang="en-US"/>
              <a:t>resources.mem</a:t>
            </a:r>
          </a:p>
          <a:p>
            <a:pPr marL="176213" indent="-176213">
              <a:spcBef>
                <a:spcPct val="50000"/>
              </a:spcBef>
              <a:buFontTx/>
              <a:buChar char="•"/>
            </a:pPr>
            <a:r>
              <a:rPr lang="en-US"/>
              <a:t>Flags &amp; counts</a:t>
            </a:r>
          </a:p>
          <a:p>
            <a:pPr marL="176213" indent="-176213">
              <a:spcBef>
                <a:spcPct val="50000"/>
              </a:spcBef>
              <a:buFontTx/>
              <a:buChar char="•"/>
            </a:pPr>
            <a:r>
              <a:rPr lang="en-US"/>
              <a:t>1</a:t>
            </a:r>
            <a:r>
              <a:rPr lang="en-US" baseline="30000"/>
              <a:t>st</a:t>
            </a:r>
            <a:r>
              <a:rPr lang="en-US"/>
              <a:t> occurrences</a:t>
            </a:r>
          </a:p>
          <a:p>
            <a:pPr marL="176213" indent="-176213">
              <a:spcBef>
                <a:spcPct val="50000"/>
              </a:spcBef>
              <a:buFontTx/>
              <a:buChar char="•"/>
            </a:pPr>
            <a:r>
              <a:rPr lang="en-US"/>
              <a:t>URI offset</a:t>
            </a:r>
          </a:p>
        </p:txBody>
      </p:sp>
      <p:sp>
        <p:nvSpPr>
          <p:cNvPr id="333829" name="Text Box 5"/>
          <p:cNvSpPr txBox="1">
            <a:spLocks noChangeArrowheads="1"/>
          </p:cNvSpPr>
          <p:nvPr/>
        </p:nvSpPr>
        <p:spPr bwMode="auto">
          <a:xfrm>
            <a:off x="5105400" y="3429000"/>
            <a:ext cx="2438400" cy="1614488"/>
          </a:xfrm>
          <a:prstGeom prst="rect">
            <a:avLst/>
          </a:prstGeom>
          <a:gradFill flip="none" rotWithShape="1">
            <a:gsLst>
              <a:gs pos="60000">
                <a:schemeClr val="accent1"/>
              </a:gs>
              <a:gs pos="100000">
                <a:srgbClr val="FFFFFF"/>
              </a:gs>
            </a:gsLst>
            <a:lin ang="0" scaled="1"/>
            <a:tileRect/>
          </a:gra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>
            <a:prstTxWarp prst="textNoShape">
              <a:avLst/>
            </a:prstTxWarp>
            <a:spAutoFit/>
          </a:bodyPr>
          <a:lstStyle/>
          <a:p>
            <a:pPr marL="176213" indent="-176213">
              <a:spcBef>
                <a:spcPct val="50000"/>
              </a:spcBef>
            </a:pPr>
            <a:r>
              <a:rPr lang="en-US"/>
              <a:t>statements.mem</a:t>
            </a:r>
          </a:p>
          <a:p>
            <a:pPr marL="176213" indent="-176213">
              <a:spcBef>
                <a:spcPct val="50000"/>
              </a:spcBef>
              <a:buFontTx/>
              <a:buChar char="•"/>
            </a:pPr>
            <a:r>
              <a:rPr lang="en-US"/>
              <a:t>Flags</a:t>
            </a:r>
          </a:p>
          <a:p>
            <a:pPr marL="176213" indent="-176213">
              <a:spcBef>
                <a:spcPct val="50000"/>
              </a:spcBef>
              <a:buFontTx/>
              <a:buChar char="•"/>
            </a:pPr>
            <a:r>
              <a:rPr lang="en-US"/>
              <a:t>Resources</a:t>
            </a:r>
          </a:p>
          <a:p>
            <a:pPr marL="176213" indent="-176213">
              <a:spcBef>
                <a:spcPct val="50000"/>
              </a:spcBef>
              <a:buFontTx/>
              <a:buChar char="•"/>
            </a:pPr>
            <a:r>
              <a:rPr lang="en-US"/>
              <a:t>Next occurrences</a:t>
            </a:r>
          </a:p>
        </p:txBody>
      </p:sp>
      <p:sp>
        <p:nvSpPr>
          <p:cNvPr id="333830" name="Text Box 6"/>
          <p:cNvSpPr txBox="1">
            <a:spLocks noChangeArrowheads="1"/>
          </p:cNvSpPr>
          <p:nvPr/>
        </p:nvSpPr>
        <p:spPr bwMode="auto">
          <a:xfrm>
            <a:off x="1371600" y="5562600"/>
            <a:ext cx="2286000" cy="788988"/>
          </a:xfrm>
          <a:prstGeom prst="rect">
            <a:avLst/>
          </a:prstGeom>
          <a:gradFill flip="none" rotWithShape="1">
            <a:gsLst>
              <a:gs pos="60000">
                <a:schemeClr val="accent1"/>
              </a:gs>
              <a:gs pos="100000">
                <a:srgbClr val="FFFFFF"/>
              </a:gs>
            </a:gsLst>
            <a:lin ang="0" scaled="1"/>
            <a:tileRect/>
          </a:gra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>
            <a:prstTxWarp prst="textNoShape">
              <a:avLst/>
            </a:prstTxWarp>
            <a:spAutoFit/>
          </a:bodyPr>
          <a:lstStyle/>
          <a:p>
            <a:pPr marL="176213" indent="-176213">
              <a:spcBef>
                <a:spcPct val="50000"/>
              </a:spcBef>
            </a:pPr>
            <a:r>
              <a:rPr lang="en-US"/>
              <a:t>uris.mem</a:t>
            </a:r>
          </a:p>
          <a:p>
            <a:pPr marL="176213" indent="-176213">
              <a:spcBef>
                <a:spcPct val="50000"/>
              </a:spcBef>
              <a:buFontTx/>
              <a:buChar char="•"/>
            </a:pPr>
            <a:r>
              <a:rPr lang="en-US"/>
              <a:t>URI string</a:t>
            </a:r>
          </a:p>
        </p:txBody>
      </p:sp>
      <p:sp>
        <p:nvSpPr>
          <p:cNvPr id="333831" name="Text Box 7"/>
          <p:cNvSpPr txBox="1">
            <a:spLocks noChangeArrowheads="1"/>
          </p:cNvSpPr>
          <p:nvPr/>
        </p:nvSpPr>
        <p:spPr bwMode="auto">
          <a:xfrm>
            <a:off x="1371600" y="1828800"/>
            <a:ext cx="2286000" cy="1063625"/>
          </a:xfrm>
          <a:prstGeom prst="rect">
            <a:avLst/>
          </a:prstGeom>
          <a:gradFill flip="none" rotWithShape="1">
            <a:gsLst>
              <a:gs pos="60000">
                <a:schemeClr val="accent1"/>
              </a:gs>
              <a:gs pos="100000">
                <a:srgbClr val="FFFFFF"/>
              </a:gs>
            </a:gsLst>
            <a:lin ang="0" scaled="1"/>
            <a:tileRect/>
          </a:gra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>
            <a:prstTxWarp prst="textNoShape">
              <a:avLst/>
            </a:prstTxWarp>
            <a:spAutoFit/>
          </a:bodyPr>
          <a:lstStyle/>
          <a:p>
            <a:pPr marL="176213" indent="-176213">
              <a:spcBef>
                <a:spcPct val="50000"/>
              </a:spcBef>
            </a:pPr>
            <a:r>
              <a:rPr lang="en-US" dirty="0"/>
              <a:t>u2i.db</a:t>
            </a:r>
          </a:p>
          <a:p>
            <a:pPr marL="176213" indent="-176213">
              <a:spcBef>
                <a:spcPct val="50000"/>
              </a:spcBef>
              <a:buFontTx/>
              <a:buChar char="•"/>
            </a:pPr>
            <a:r>
              <a:rPr lang="en-US" dirty="0"/>
              <a:t>Resource ids, indexed by URI</a:t>
            </a:r>
          </a:p>
        </p:txBody>
      </p:sp>
      <p:cxnSp>
        <p:nvCxnSpPr>
          <p:cNvPr id="333832" name="AutoShape 8"/>
          <p:cNvCxnSpPr>
            <a:cxnSpLocks noChangeShapeType="1"/>
            <a:stCxn id="333851" idx="2"/>
            <a:endCxn id="333828" idx="0"/>
          </p:cNvCxnSpPr>
          <p:nvPr/>
        </p:nvCxnSpPr>
        <p:spPr bwMode="auto">
          <a:xfrm rot="5400000">
            <a:off x="2552700" y="2628900"/>
            <a:ext cx="762000" cy="838200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1"/>
            </a:solidFill>
            <a:miter lim="800000"/>
            <a:headEnd/>
            <a:tailEnd type="stealth" w="lg" len="lg"/>
          </a:ln>
          <a:effectLst/>
        </p:spPr>
      </p:cxnSp>
      <p:sp>
        <p:nvSpPr>
          <p:cNvPr id="333837" name="Rectangle 13"/>
          <p:cNvSpPr>
            <a:spLocks noChangeArrowheads="1"/>
          </p:cNvSpPr>
          <p:nvPr/>
        </p:nvSpPr>
        <p:spPr bwMode="auto">
          <a:xfrm>
            <a:off x="4648200" y="3048000"/>
            <a:ext cx="152400" cy="1524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33839" name="Rectangle 15"/>
          <p:cNvSpPr>
            <a:spLocks noChangeArrowheads="1"/>
          </p:cNvSpPr>
          <p:nvPr/>
        </p:nvSpPr>
        <p:spPr bwMode="auto">
          <a:xfrm>
            <a:off x="3505200" y="3581400"/>
            <a:ext cx="152400" cy="152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33838" name="Rectangle 14"/>
          <p:cNvSpPr>
            <a:spLocks noChangeArrowheads="1"/>
          </p:cNvSpPr>
          <p:nvPr/>
        </p:nvSpPr>
        <p:spPr bwMode="auto">
          <a:xfrm>
            <a:off x="7391400" y="3048000"/>
            <a:ext cx="152400" cy="1524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33840" name="Rectangle 16"/>
          <p:cNvSpPr>
            <a:spLocks noChangeArrowheads="1"/>
          </p:cNvSpPr>
          <p:nvPr/>
        </p:nvSpPr>
        <p:spPr bwMode="auto">
          <a:xfrm>
            <a:off x="2743200" y="4800600"/>
            <a:ext cx="152400" cy="152400"/>
          </a:xfrm>
          <a:prstGeom prst="rect">
            <a:avLst/>
          </a:prstGeom>
          <a:solidFill>
            <a:schemeClr val="tx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n-US"/>
          </a:p>
        </p:txBody>
      </p:sp>
      <p:cxnSp>
        <p:nvCxnSpPr>
          <p:cNvPr id="333841" name="AutoShape 17"/>
          <p:cNvCxnSpPr>
            <a:cxnSpLocks noChangeShapeType="1"/>
            <a:stCxn id="333840" idx="2"/>
            <a:endCxn id="333830" idx="0"/>
          </p:cNvCxnSpPr>
          <p:nvPr/>
        </p:nvCxnSpPr>
        <p:spPr bwMode="auto">
          <a:xfrm rot="5400000">
            <a:off x="2362200" y="5105400"/>
            <a:ext cx="609600" cy="304800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1"/>
            </a:solidFill>
            <a:miter lim="800000"/>
            <a:headEnd/>
            <a:tailEnd type="stealth" w="lg" len="lg"/>
          </a:ln>
          <a:effectLst/>
        </p:spPr>
      </p:cxnSp>
      <p:sp>
        <p:nvSpPr>
          <p:cNvPr id="333842" name="Rectangle 18"/>
          <p:cNvSpPr>
            <a:spLocks noChangeArrowheads="1"/>
          </p:cNvSpPr>
          <p:nvPr/>
        </p:nvSpPr>
        <p:spPr bwMode="auto">
          <a:xfrm>
            <a:off x="3276600" y="4343400"/>
            <a:ext cx="152400" cy="152400"/>
          </a:xfrm>
          <a:prstGeom prst="rect">
            <a:avLst/>
          </a:prstGeom>
          <a:solidFill>
            <a:schemeClr val="tx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n-US"/>
          </a:p>
        </p:txBody>
      </p:sp>
      <p:cxnSp>
        <p:nvCxnSpPr>
          <p:cNvPr id="333843" name="AutoShape 19"/>
          <p:cNvCxnSpPr>
            <a:cxnSpLocks noChangeShapeType="1"/>
            <a:stCxn id="333842" idx="3"/>
            <a:endCxn id="333829" idx="1"/>
          </p:cNvCxnSpPr>
          <p:nvPr/>
        </p:nvCxnSpPr>
        <p:spPr bwMode="auto">
          <a:xfrm flipV="1">
            <a:off x="3429000" y="4237038"/>
            <a:ext cx="1676400" cy="18256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1"/>
            </a:solidFill>
            <a:miter lim="800000"/>
            <a:headEnd/>
            <a:tailEnd type="stealth" w="lg" len="lg"/>
          </a:ln>
          <a:effectLst/>
        </p:spPr>
      </p:cxnSp>
      <p:cxnSp>
        <p:nvCxnSpPr>
          <p:cNvPr id="333844" name="AutoShape 20"/>
          <p:cNvCxnSpPr>
            <a:cxnSpLocks noChangeShapeType="1"/>
            <a:stCxn id="333837" idx="1"/>
            <a:endCxn id="333839" idx="3"/>
          </p:cNvCxnSpPr>
          <p:nvPr/>
        </p:nvCxnSpPr>
        <p:spPr bwMode="auto">
          <a:xfrm rot="10800000" flipV="1">
            <a:off x="3657600" y="3124200"/>
            <a:ext cx="990600" cy="533400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1"/>
            </a:solidFill>
            <a:miter lim="800000"/>
            <a:headEnd/>
            <a:tailEnd type="stealth" w="lg" len="lg"/>
          </a:ln>
          <a:effectLst/>
        </p:spPr>
      </p:cxnSp>
      <p:sp>
        <p:nvSpPr>
          <p:cNvPr id="333845" name="Rectangle 21"/>
          <p:cNvSpPr>
            <a:spLocks noChangeArrowheads="1"/>
          </p:cNvSpPr>
          <p:nvPr/>
        </p:nvSpPr>
        <p:spPr bwMode="auto">
          <a:xfrm>
            <a:off x="6553200" y="4343400"/>
            <a:ext cx="152400" cy="152400"/>
          </a:xfrm>
          <a:prstGeom prst="rect">
            <a:avLst/>
          </a:prstGeom>
          <a:solidFill>
            <a:schemeClr val="tx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n-US"/>
          </a:p>
        </p:txBody>
      </p:sp>
      <p:cxnSp>
        <p:nvCxnSpPr>
          <p:cNvPr id="333846" name="AutoShape 22"/>
          <p:cNvCxnSpPr>
            <a:cxnSpLocks noChangeShapeType="1"/>
            <a:stCxn id="333845" idx="3"/>
            <a:endCxn id="333838" idx="3"/>
          </p:cNvCxnSpPr>
          <p:nvPr/>
        </p:nvCxnSpPr>
        <p:spPr bwMode="auto">
          <a:xfrm flipV="1">
            <a:off x="6705600" y="3124200"/>
            <a:ext cx="838200" cy="1295400"/>
          </a:xfrm>
          <a:prstGeom prst="bentConnector3">
            <a:avLst>
              <a:gd name="adj1" fmla="val 127273"/>
            </a:avLst>
          </a:prstGeom>
          <a:noFill/>
          <a:ln w="9525">
            <a:solidFill>
              <a:schemeClr val="tx1"/>
            </a:solidFill>
            <a:miter lim="800000"/>
            <a:headEnd/>
            <a:tailEnd/>
          </a:ln>
          <a:effectLst/>
        </p:spPr>
      </p:cxnSp>
      <p:cxnSp>
        <p:nvCxnSpPr>
          <p:cNvPr id="333848" name="AutoShape 24"/>
          <p:cNvCxnSpPr>
            <a:cxnSpLocks noChangeShapeType="1"/>
            <a:stCxn id="333837" idx="1"/>
            <a:endCxn id="333838" idx="3"/>
          </p:cNvCxnSpPr>
          <p:nvPr/>
        </p:nvCxnSpPr>
        <p:spPr bwMode="auto">
          <a:xfrm>
            <a:off x="4648200" y="3124200"/>
            <a:ext cx="2895600" cy="0"/>
          </a:xfrm>
          <a:prstGeom prst="straightConnector1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ffectLst/>
        </p:spPr>
      </p:cxnSp>
      <p:sp>
        <p:nvSpPr>
          <p:cNvPr id="333849" name="Rectangle 25"/>
          <p:cNvSpPr>
            <a:spLocks noChangeArrowheads="1"/>
          </p:cNvSpPr>
          <p:nvPr/>
        </p:nvSpPr>
        <p:spPr bwMode="auto">
          <a:xfrm>
            <a:off x="7239000" y="4800600"/>
            <a:ext cx="152400" cy="152400"/>
          </a:xfrm>
          <a:prstGeom prst="rect">
            <a:avLst/>
          </a:prstGeom>
          <a:solidFill>
            <a:schemeClr val="tx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n-US"/>
          </a:p>
        </p:txBody>
      </p:sp>
      <p:cxnSp>
        <p:nvCxnSpPr>
          <p:cNvPr id="333850" name="AutoShape 26"/>
          <p:cNvCxnSpPr>
            <a:cxnSpLocks noChangeShapeType="1"/>
            <a:stCxn id="333849" idx="3"/>
            <a:endCxn id="333829" idx="2"/>
          </p:cNvCxnSpPr>
          <p:nvPr/>
        </p:nvCxnSpPr>
        <p:spPr bwMode="auto">
          <a:xfrm flipH="1">
            <a:off x="6324600" y="4876800"/>
            <a:ext cx="1066800" cy="166688"/>
          </a:xfrm>
          <a:prstGeom prst="bentConnector4">
            <a:avLst>
              <a:gd name="adj1" fmla="val -35713"/>
              <a:gd name="adj2" fmla="val 237144"/>
            </a:avLst>
          </a:prstGeom>
          <a:noFill/>
          <a:ln w="9525">
            <a:solidFill>
              <a:schemeClr val="tx1"/>
            </a:solidFill>
            <a:miter lim="800000"/>
            <a:headEnd/>
            <a:tailEnd type="stealth" w="lg" len="lg"/>
          </a:ln>
          <a:effectLst/>
        </p:spPr>
      </p:cxnSp>
      <p:sp>
        <p:nvSpPr>
          <p:cNvPr id="333851" name="Rectangle 27"/>
          <p:cNvSpPr>
            <a:spLocks noChangeArrowheads="1"/>
          </p:cNvSpPr>
          <p:nvPr/>
        </p:nvSpPr>
        <p:spPr bwMode="auto">
          <a:xfrm>
            <a:off x="3276600" y="2514600"/>
            <a:ext cx="152400" cy="152400"/>
          </a:xfrm>
          <a:prstGeom prst="rect">
            <a:avLst/>
          </a:prstGeom>
          <a:solidFill>
            <a:schemeClr val="tx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>
            <a:prstTxWarp prst="textNoShape">
              <a:avLst/>
            </a:prstTxWarp>
          </a:bodyPr>
          <a:lstStyle/>
          <a:p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4447dd6a-a4a1-440b-a6a3-9124ef1ee017}" enabled="1" method="Privileged" siteId="{7a18110d-ef9b-4274-acef-e62ab0fe28ed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2250</TotalTime>
  <Words>221</Words>
  <Application>Microsoft Macintosh PowerPoint</Application>
  <PresentationFormat>On-screen Show (4:3)</PresentationFormat>
  <Paragraphs>72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Parliament™ Layers (1)</vt:lpstr>
      <vt:lpstr>Parliament™ Architecture (2)</vt:lpstr>
      <vt:lpstr>Parliament™ File Structure</vt:lpstr>
    </vt:vector>
  </TitlesOfParts>
  <Manager/>
  <Company>BBN Technologies,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subject/>
  <dc:creator>Ian Emmons</dc:creator>
  <cp:keywords/>
  <dc:description/>
  <cp:lastModifiedBy>Ian Emmons</cp:lastModifiedBy>
  <cp:revision>50</cp:revision>
  <cp:lastPrinted>2026-06-16T17:56:32Z</cp:lastPrinted>
  <dcterms:created xsi:type="dcterms:W3CDTF">2008-10-27T00:17:51Z</dcterms:created>
  <dcterms:modified xsi:type="dcterms:W3CDTF">2026-06-16T17:58:42Z</dcterms:modified>
  <cp:category/>
</cp:coreProperties>
</file>